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1, Executive Thesis. Long-term positioning: infrastructure layer for regulated firms, not a lead seller or unlicensed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2, Strategic Positioning. Category definition and positioning statements by stakeholder.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3, Market Opportunity. Investment Adviser Association 2026 Snapshot (2025 data); SEC IAPD data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4, Founding Pilot Structure. GV Financial legal entity, licenses and carrier appointments require confirmation before contracts or marketing.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5, Platform Architecture (mermaid flow) and Section 14, Egypt/Philippines/US operating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6, The Telewealth IP Stack. Also includes Case OS and Compliance OS (sections 6.7-6.8), summarized elsewhere in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7, Product and Service Verticals — condensed from the full 14-row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8, Full Consumer Acquisition Engine — channel portfolio design targets, not universal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Sections 9.4 and 10.5. Outbound: 10% live-connect, 12% qualification, 55% booking, 70% show, 30% application, 80% funding. Paid: blended $175 lead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Sections 13.1-13.6. FINRA Regulatory Notice 24-09 and NIST AI RMF (Govern, Map, Measure, Manage) inform governance. L4 autonomous regulated decisions are never permitted.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14, Egypt/Philippines/US Operating Model and Section 14.5 Security Requirements. SEC amended Regulation S-P referenced for safeguards.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17, Commercial Packaging. Product compensation (insurance/advisory) kept legally separate from platform invoices per Section 17.3.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Sections 18.1-18.4. Illustrative planning model, not a forecast or guarantee. Amerity Form ADV discloses typical 5-10% insurance commissions.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Sections 18.5-18.6. Management scenario, not a forecast or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23, Pilot Roadmap. Success gates for compliance, operations, economics and experience must be met before scaling (Section 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27, Risk Register. Full register also covers AI hallucination, provider mismatch, chargebacks, partner concentration and AI-washing (High impact).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Section 30, Final Model. This deck is a strategic summary — see the full blueprint for legal, compliance and contracting requirements before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529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0F1F3D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BFA04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OMNIKOM  ×  RAINMAKER WEALTH INNOVATION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TELEWEALTH OS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Wealth Distribution, Demand Generation, AI and Operations Infrastructure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PILOT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59943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Amerity Wealth Management · Amerity Financial · GV Financial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946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HUBS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520293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HQ  +  Philippines HQ  +  U.S. Licensed Delivery Network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550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Strategic &amp; Implementation Blueprint  ·  v1.0  ·  July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TELEWEALTH OS BLUEPRINT — SECTIONS 1–4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infrastructure layer connecting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demand, advisors, and operations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sits between American households, financial professionals and the regulated entities that serve them — combining two engines designed as one intellectual-property system.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136392"/>
            <a:ext cx="548640" cy="54864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2826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Demand Engine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3410712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calling · inbound response · paid media · SEO/AEO/GEO · landing pages · webinars · referrals · database reactivation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48056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4736592"/>
            <a:ext cx="548640" cy="54864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48828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Telewealth Operating Engine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08760" y="5010912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· consent management · credentialing · rules-based routing · case management · QA · compliance · attribution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543800" y="1874520"/>
            <a:ext cx="4114800" cy="4251960"/>
          </a:xfrm>
          <a:prstGeom prst="roundRect">
            <a:avLst>
              <a:gd name="adj" fmla="val 2222"/>
            </a:avLst>
          </a:prstGeom>
          <a:solidFill>
            <a:srgbClr val="0F1F3D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PROVES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863840" y="2487168"/>
            <a:ext cx="35204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acquisition economics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conversion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advisory workflows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household servicing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controls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operations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BPO security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Attribution: first touch → funded outcome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across thousands of firms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Telewealth: the commercial 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remote, advisor-led and technology-enabled model for delivering retirement planning, wealth management, insurance protection and ongoing household financial service. The analogy to telehealth is operational, not regulatory — Telewealth creates no new license and does not replace existing securities or insurance requirements.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715768"/>
            <a:ext cx="457200" cy="45720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862072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734056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3264408"/>
            <a:ext cx="32369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guidance, protection and retirement support — wherever you are.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52544" y="2514600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2715768"/>
            <a:ext cx="457200" cy="45720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86207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9784" y="2734056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FIRM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53712" y="3264408"/>
            <a:ext cx="32369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virtual wealth distribution and household growth.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6448" y="2514600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57616" y="2715768"/>
            <a:ext cx="457200" cy="45720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862072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33688" y="2734056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357616" y="3264408"/>
            <a:ext cx="32369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infrastructure layer connecting demand, advisors, licensed entities, global operations and AI.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572000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4773168"/>
            <a:ext cx="457200" cy="45720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919472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791456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OMNIKOM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49808" y="5321808"/>
            <a:ext cx="32369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and operates the demand, technology and workforce infrastructure behind Telewealth.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52544" y="4572000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53712" y="4773168"/>
            <a:ext cx="457200" cy="45720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919472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29784" y="4791456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RAINMAKER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53712" y="5321808"/>
            <a:ext cx="32369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financial-services distribution, strategic relationships and Philippines talent deployment.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6448" y="4572000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57616" y="4773168"/>
            <a:ext cx="457200" cy="45720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919472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33688" y="4791456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PILOT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357616" y="5321808"/>
            <a:ext cx="32369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Amerity Wealth Management, Amerity Financial and GV Financial validate the model before national expansion.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fragmented advisory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28216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16,544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SEC-registered investment advisers (2025)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46704" y="160020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83864" y="1728216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73.7M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83864" y="242316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served industry-wide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44768" y="160020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728216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81928" y="242316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firms employ 100 or fewer people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42832" y="160020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0F1F3D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9992" y="1728216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4,000–7,000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79992" y="242316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in initial serviceable ICP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INITIAL FIRM ICP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1–50 advisors, ~$50M–$2B AUM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995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retiree, business-owner or plan-sponsor clients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799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or hybrid service capability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Organic-growth pressure; weak internal prospecting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3995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inactive database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43799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leader willing to supervise the 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3246120"/>
            <a:ext cx="5120640" cy="260604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84848" y="3474720"/>
            <a:ext cx="502920" cy="502920"/>
          </a:xfrm>
          <a:prstGeom prst="ellipse">
            <a:avLst/>
          </a:prstGeom>
          <a:solidFill>
            <a:srgbClr val="BFA046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3621024"/>
            <a:ext cx="210312" cy="2103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424928" y="3566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FIRMS ARE UNDERBUILT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784848" y="402336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 &amp; outbound prospecting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&amp; search visibility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response &amp; appointment setting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reactivation &amp; recruiting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attribution &amp; AI adoption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Compliance-aware workflow automation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PILOT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entities, one operating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76272" cy="4160520"/>
          </a:xfrm>
          <a:prstGeom prst="roundRect">
            <a:avLst>
              <a:gd name="adj" fmla="val 3361"/>
            </a:avLst>
          </a:prstGeom>
          <a:solidFill>
            <a:srgbClr val="0F1F3D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1965960"/>
            <a:ext cx="566928" cy="566928"/>
          </a:xfrm>
          <a:prstGeom prst="ellipse">
            <a:avLst/>
          </a:prstGeom>
          <a:solidFill>
            <a:srgbClr val="BFA0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21122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9748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Omnikom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317296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OWNER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3566160"/>
            <a:ext cx="184708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Demand-gen IP, AI orchestration, data architecture, consent ledger, routing logic, Egypt hub.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706624" y="35890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79776" y="1691640"/>
            <a:ext cx="2176272" cy="4160520"/>
          </a:xfrm>
          <a:prstGeom prst="roundRect">
            <a:avLst>
              <a:gd name="adj" fmla="val 3361"/>
            </a:avLst>
          </a:prstGeom>
          <a:solidFill>
            <a:srgbClr val="0F1F3D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84448" y="1965960"/>
            <a:ext cx="566928" cy="566928"/>
          </a:xfrm>
          <a:prstGeom prst="ellipse">
            <a:avLst/>
          </a:prstGeom>
          <a:solidFill>
            <a:srgbClr val="BFA04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11226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269748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Rainmaker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889504" y="317296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D9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ACCELERATOR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944368" y="3566160"/>
            <a:ext cx="184708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acquisition, strategic relationships, Philippines talent, white-label partnerships.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937760" y="35890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010912" y="1691640"/>
            <a:ext cx="2176272" cy="4160520"/>
          </a:xfrm>
          <a:prstGeom prst="roundRect">
            <a:avLst>
              <a:gd name="adj" fmla="val 33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15584" y="1965960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1122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0640" y="269748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Amerity Wealth Mgmt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120640" y="317296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ANCHOR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175504" y="3566160"/>
            <a:ext cx="184708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advice, financial planning, retirement consulting, independent IARs.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168896" y="35890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242048" y="1691640"/>
            <a:ext cx="2176272" cy="4160520"/>
          </a:xfrm>
          <a:prstGeom prst="roundRect">
            <a:avLst>
              <a:gd name="adj" fmla="val 33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46720" y="1965960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11226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51776" y="269748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Amerity Financial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351776" y="317296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ANCHOR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406640" y="3566160"/>
            <a:ext cx="184708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marketing organization; annuity &amp; protection distribution; 5–10% typical commission.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9400032" y="358902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473184" y="1691640"/>
            <a:ext cx="2176272" cy="4160520"/>
          </a:xfrm>
          <a:prstGeom prst="roundRect">
            <a:avLst>
              <a:gd name="adj" fmla="val 33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277856" y="1965960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2112264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582912" y="269748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 Financial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9582912" y="3172968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PRODUCER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9637776" y="3566160"/>
            <a:ext cx="184708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partner — exact entity, licenses and carrier appointments to be confirmed pre-launch.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market demand to household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5588" y="2368296"/>
            <a:ext cx="512064" cy="512064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92" y="25146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Engine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344728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· Ads · SEO/AEO/GEO · Referrals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2532888" y="2816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770632" y="21488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7580" y="2368296"/>
            <a:ext cx="512064" cy="512064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251460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2072" y="3017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Intake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862072" y="344728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consent, qualification</a:t>
            </a:r>
            <a:endParaRPr lang="en-US" sz="870" dirty="0"/>
          </a:p>
        </p:txBody>
      </p:sp>
      <p:sp>
        <p:nvSpPr>
          <p:cNvPr id="15" name="Text 11"/>
          <p:cNvSpPr/>
          <p:nvPr/>
        </p:nvSpPr>
        <p:spPr>
          <a:xfrm>
            <a:off x="4754880" y="2816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992624" y="21488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19572" y="2368296"/>
            <a:ext cx="512064" cy="512064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251460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84064" y="3017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Layer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084064" y="344728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workflow</a:t>
            </a:r>
            <a:endParaRPr lang="en-US" sz="870" dirty="0"/>
          </a:p>
        </p:txBody>
      </p:sp>
      <p:sp>
        <p:nvSpPr>
          <p:cNvPr id="21" name="Text 16"/>
          <p:cNvSpPr/>
          <p:nvPr/>
        </p:nvSpPr>
        <p:spPr>
          <a:xfrm>
            <a:off x="6976872" y="2816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214616" y="21488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941564" y="2368296"/>
            <a:ext cx="512064" cy="512064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68" y="251460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06056" y="3017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306056" y="344728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Credentialing-based matching</a:t>
            </a:r>
            <a:endParaRPr lang="en-US" sz="870" dirty="0"/>
          </a:p>
        </p:txBody>
      </p:sp>
      <p:sp>
        <p:nvSpPr>
          <p:cNvPr id="27" name="Text 21"/>
          <p:cNvSpPr/>
          <p:nvPr/>
        </p:nvSpPr>
        <p:spPr>
          <a:xfrm>
            <a:off x="9198864" y="2816352"/>
            <a:ext cx="219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436608" y="214884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163556" y="2368296"/>
            <a:ext cx="512064" cy="512064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9860" y="2514600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28048" y="3017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Lifecycle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9528048" y="344728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mgmt · reviews · referrals</a:t>
            </a:r>
            <a:endParaRPr lang="en-US" sz="870" dirty="0"/>
          </a:p>
        </p:txBody>
      </p:sp>
      <p:sp>
        <p:nvSpPr>
          <p:cNvPr id="33" name="Text 26"/>
          <p:cNvSpPr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ACROSS THREE HUBS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48640" y="46177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F1F3D"/>
          </a:solidFill>
          <a:ln/>
        </p:spPr>
      </p:sp>
      <p:sp>
        <p:nvSpPr>
          <p:cNvPr id="35" name="Shape 28"/>
          <p:cNvSpPr/>
          <p:nvPr/>
        </p:nvSpPr>
        <p:spPr>
          <a:xfrm>
            <a:off x="731520" y="4818888"/>
            <a:ext cx="457200" cy="457200"/>
          </a:xfrm>
          <a:prstGeom prst="ellipse">
            <a:avLst/>
          </a:prstGeom>
          <a:solidFill>
            <a:srgbClr val="BFA046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4965192"/>
            <a:ext cx="164592" cy="16459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325880" y="478231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Egypt HQ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731520" y="527608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AI engineering, demand &amp; content operations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4297680" y="46177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F1F3D"/>
          </a:solidFill>
          <a:ln/>
        </p:spPr>
      </p:sp>
      <p:sp>
        <p:nvSpPr>
          <p:cNvPr id="40" name="Shape 32"/>
          <p:cNvSpPr/>
          <p:nvPr/>
        </p:nvSpPr>
        <p:spPr>
          <a:xfrm>
            <a:off x="4480560" y="4818888"/>
            <a:ext cx="457200" cy="457200"/>
          </a:xfrm>
          <a:prstGeom prst="ellipse">
            <a:avLst/>
          </a:prstGeom>
          <a:solidFill>
            <a:srgbClr val="BFA046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864" y="4965192"/>
            <a:ext cx="164592" cy="16459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074920" y="478231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Philippines HQ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4480560" y="527608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Concierge, case processing, client success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8046720" y="46177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0F1F3D"/>
          </a:solidFill>
          <a:ln/>
        </p:spPr>
      </p:sp>
      <p:sp>
        <p:nvSpPr>
          <p:cNvPr id="45" name="Shape 36"/>
          <p:cNvSpPr/>
          <p:nvPr/>
        </p:nvSpPr>
        <p:spPr>
          <a:xfrm>
            <a:off x="8229600" y="4818888"/>
            <a:ext cx="457200" cy="457200"/>
          </a:xfrm>
          <a:prstGeom prst="ellipse">
            <a:avLst/>
          </a:prstGeom>
          <a:solidFill>
            <a:srgbClr val="BFA046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4965192"/>
            <a:ext cx="164592" cy="16459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8823960" y="478231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U.S. Licensed Layer</a:t>
            </a:r>
            <a:endParaRPr lang="en-US" sz="1300" dirty="0"/>
          </a:p>
        </p:txBody>
      </p:sp>
      <p:sp>
        <p:nvSpPr>
          <p:cNvPr id="48" name="Text 38"/>
          <p:cNvSpPr/>
          <p:nvPr/>
        </p:nvSpPr>
        <p:spPr>
          <a:xfrm>
            <a:off x="8229600" y="527608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Advice, recommendations, supervision, compliance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TELEWEALTH IP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is the connected operating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list of leads — six permissioned, auditable data graphs that power every match, message and case.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67128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313432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2203704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Graph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78892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campaign, creative, cost, conversion path, revenue attribution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2167128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31343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48072" y="2203704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Graph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53712" y="278892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relationship record — needs, service history, assigned providers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56448" y="196596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57616" y="2167128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31343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51976" y="2203704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Graph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57616" y="278892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CRD/IARD, licenses, appointments, capacity, conversion, compliance status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11480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4315968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462272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44168" y="4352544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Ledger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9808" y="493776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 of source, language, channel, opt-outs, DNC status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52544" y="411480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53712" y="4315968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462272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48072" y="4352544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&amp; Content Graph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53712" y="493776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claims, disclosures, script/ad/page versions, evidence sources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56448" y="411480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57616" y="4315968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462272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51976" y="4352544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Engine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57616" y="493776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filters (license, state, capacity) + soft scoring — never pay-to-win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SERVICE VERTICALS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Organized around household needs, not products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486400"/>
                <a:gridCol w="2770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VERTICAL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ENTRY OFFER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REGULATED ENDPOINT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</a:rPr>
                        <a:t>Retirement clarity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Review whether your current strategy still fits your goals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IAR / retirement advisor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</a:rPr>
                        <a:t>Old 401(k) options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Understand the available options for a former employer plan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IAR / ERISA-qualified professional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</a:rPr>
                        <a:t>Retirement income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Explore how current assets may support future income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IAR + licensed insurance agent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</a:rPr>
                        <a:t>Family &amp; mortgage protection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Review income replacement &amp; household obligations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Licensed insurance professional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</a:rPr>
                        <a:t>Business-owner planning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Review personal, business &amp; employee retirement exposure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Advisor, plan specialist, insurance pro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</a:rPr>
                        <a:t>Advisor growth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Deploy a complete virtual demand &amp; operations engine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RIA / agency principal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 spans 14 verticals — retirement, 401(k), insurance/annuity, wealth management, business-owner and advisor-growth offers (Section 7).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ACQUISITION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diversified channel portfolio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channel controls the business. Steady-state design targets: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694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13055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Outbound &amp; Reactivation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82112" y="1965960"/>
            <a:ext cx="914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25–35%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5424" y="2423160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56946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57216" y="213055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986016" y="1965960"/>
            <a:ext cx="914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156448" y="196596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39328" y="2423160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56946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213055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&amp; Video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0789920" y="1965960"/>
            <a:ext cx="914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10–20%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548640" y="3547872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4005072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151376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53312" y="3712464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/ AEO / GEO Organic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182112" y="3547872"/>
            <a:ext cx="914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4352544" y="3547872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35424" y="4005072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151376"/>
            <a:ext cx="210312" cy="2103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57216" y="3712464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Partnerships, Employers &amp; Referrals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986016" y="3547872"/>
            <a:ext cx="914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10–20%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8156448" y="3547872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39328" y="4005072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151376"/>
            <a:ext cx="210312" cy="2103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61120" y="3712464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Webinars, Events &amp; Content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0789920" y="3547872"/>
            <a:ext cx="914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5–10%</a:t>
            </a:r>
            <a:endParaRPr lang="en-US" sz="2000" dirty="0"/>
          </a:p>
        </p:txBody>
      </p:sp>
      <p:sp>
        <p:nvSpPr>
          <p:cNvPr id="35" name="Text 27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discipline: Source → Landing/Caller → Consent → Intake → Provider → Meeting → Application → Funding → Renewal → Referral.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MODEL — ILLUSTRATIVE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&amp; paid-media funnel economics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planning assumptions to be replaced with actual pilot data — not a market guarantee.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— Monthly (base case)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00600" y="2542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816352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16352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723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conversations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3072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346704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346704"/>
            <a:ext cx="448056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027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households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36027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877056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8770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33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booked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4133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407408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4074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663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held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937760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9377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193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5193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5468112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4681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7241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outcomes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5724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" y="5998464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9984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187452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Media — $60K Monthly Spend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46520" y="2542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424160" y="2542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46520" y="2816352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2816352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0723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424160" y="3072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46520" y="3346704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3346704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36027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424160" y="36027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46520" y="3877056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46520" y="3877056"/>
            <a:ext cx="1201783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4133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424160" y="4133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46520" y="4407408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46520" y="4407408"/>
            <a:ext cx="836023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4663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42416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46520" y="4937760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46520" y="4937760"/>
            <a:ext cx="248194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57" name="Text 55"/>
          <p:cNvSpPr/>
          <p:nvPr/>
        </p:nvSpPr>
        <p:spPr>
          <a:xfrm>
            <a:off x="6446520" y="5193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outcomes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424160" y="5193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446520" y="5468112"/>
            <a:ext cx="448056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46520" y="5468112"/>
            <a:ext cx="195943" cy="109728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with licensed human control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3134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67919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performs task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69164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0F1F3D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828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80360" y="23134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80360" y="267919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suggests; human decides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169164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0F1F3D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828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74920" y="23134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&amp; Approve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4920" y="267919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drafts; authorized human approves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0" y="169164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0F1F3D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828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69480" y="23134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Execution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69480" y="267919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executes low-risk admin actions within rules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326880" y="169164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0A1529"/>
          </a:solidFill>
          <a:ln w="19050">
            <a:solidFill>
              <a:srgbClr val="BFA0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1828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64040" y="23134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464040" y="267919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permitted for advice, recommendation or suitability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FAMILIES ACROSS THE LIFECYCLE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85316" y="4114800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4261104"/>
            <a:ext cx="182880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94360" y="46817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Marketing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94360" y="51389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intel, paid ads, SEO/AEO/GEO, creative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579876" y="4114800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4261104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788920" y="46817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&amp; Intake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2788920" y="51389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preflight, caller copilot, qualification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774436" y="4114800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261104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983480" y="46817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&amp; Advisor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4983480" y="51389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Credentialing, routing, meeting prep, scribe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7968996" y="4114800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4261104"/>
            <a:ext cx="182880" cy="18288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178040" y="46817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&amp; Client Service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7178040" y="51389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NIGO, underwriting, funding, annual review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10163556" y="4114800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9860" y="4261104"/>
            <a:ext cx="182880" cy="18288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372600" y="46817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Finance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9372600" y="51389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compliance surveillance, revenue reconciliation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· PHILIPPINES · U.S. OPERATING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Follow-the-sun execution, licensed control retained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HQ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2496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outreach / marketing response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2615184" y="221284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61488" y="16916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0F1F3D"/>
          </a:solidFill>
          <a:ln/>
        </p:spPr>
      </p:sp>
      <p:sp>
        <p:nvSpPr>
          <p:cNvPr id="10" name="Text 8"/>
          <p:cNvSpPr/>
          <p:nvPr/>
        </p:nvSpPr>
        <p:spPr>
          <a:xfrm>
            <a:off x="2889504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9504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HQ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9504" y="2496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scheduling, qualified appointment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28032" y="221284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74336" y="16916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0F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02352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Advisor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02352" y="2496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virtual meeting &amp; recommendation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7040880" y="221284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87184" y="16916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0F1F3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+ Philippines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2496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workflow, document follow-up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9253728" y="221284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00032" y="16916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0F1F3D"/>
          </a:solidFill>
          <a:ln/>
        </p:spPr>
      </p:sp>
      <p:sp>
        <p:nvSpPr>
          <p:cNvPr id="25" name="Text 23"/>
          <p:cNvSpPr/>
          <p:nvPr/>
        </p:nvSpPr>
        <p:spPr>
          <a:xfrm>
            <a:off x="9528048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28048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28048" y="2496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Approval, funding, annual review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11091672" cy="2788920"/>
          </a:xfrm>
          <a:prstGeom prst="roundRect">
            <a:avLst>
              <a:gd name="adj" fmla="val 3279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3712464"/>
            <a:ext cx="210312" cy="21031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63040" y="36393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DATA-SECURITY REQUIREMENTS FOR GLOBAL TEAMS HANDLING NPI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296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U.S.-hosted encrypted systems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822960" y="45445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 authentication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822960" y="49286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Role-based, least-privilege access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22960" y="53126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/ virtual desktop, no local downloads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30936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Data-loss prevention &amp; audit logs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309360" y="45445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screening &amp; confidentiality agreements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309360" y="49286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data-processing agreements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6309360" y="53126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&amp; business continuity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PACKAGING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wealth-firm pricing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 setup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$4,500/mo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CRM workflow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landing page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inbound AI agent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automation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advisor profile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0F1F3D"/>
          </a:solidFill>
          <a:ln w="19050">
            <a:solidFill>
              <a:srgbClr val="BFA0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99432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9432" y="26517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 setup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$12,500/mo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9432" y="352044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funnel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pod allocation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SEO/AEO/GEO program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concierge + AI agents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advisor profiles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1920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75904" y="24231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$50K–$150K impl.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75904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$35K–$100K/mo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75904" y="329184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multi-office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routing &amp; custom integrations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operations pod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agents, white labeling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executive governance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add-ons: SEO/AEO/GEO $3.5K–$15K/mo · Paid-media mgmt 12–18% of spend · Outbound pod $7.5K–$25K/mo · Advisor AI seat $300–$750/mo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FINANCIAL MODEL — ILLUSTRATIVE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requirement &amp; production economics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CASH REQUIREMENT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0" y="1847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$109,100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539496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21408"/>
            <a:ext cx="3286377" cy="128016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40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24140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$139,100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539496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4190055" cy="128016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809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9809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$179,100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539496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55264"/>
            <a:ext cx="5394960" cy="128016"/>
          </a:xfrm>
          <a:prstGeom prst="roundRect">
            <a:avLst>
              <a:gd name="adj" fmla="val 50000"/>
            </a:avLst>
          </a:prstGeom>
          <a:solidFill>
            <a:srgbClr val="BFA04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operating cost: $79,100/mo (pod, hubs, tech, compliance, mgmt) + variable ad spend.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INSURANCE PRODUCTION (illustrative 7% commission)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28800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91640"/>
                <a:gridCol w="1691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Funded Cases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Gross Comp.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</a:rPr>
                        <a:t>Conservative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F3D"/>
                          </a:solidFill>
                        </a:rPr>
                        <a:t>$105,000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</a:rPr>
                        <a:t>Base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F3D"/>
                          </a:solidFill>
                        </a:rPr>
                        <a:t>$280,000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F"/>
                          </a:solidFill>
                        </a:rPr>
                        <a:t>Upside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</a:rPr>
                        <a:t>35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F3D"/>
                          </a:solidFill>
                        </a:rPr>
                        <a:t>$612,500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263640" y="3429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compensation is before agent payouts, IMO/agency splits, chargebacks, marketing cost and taxes.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425196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0F1F3D"/>
          </a:solidFill>
          <a:ln/>
        </p:spPr>
      </p:sp>
      <p:sp>
        <p:nvSpPr>
          <p:cNvPr id="22" name="Shape 19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BFA046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672584"/>
            <a:ext cx="210312" cy="21031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63040" y="44805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$250,000 MONTHLY FOUNDER DISTRIBUTIONS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1463040" y="482803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funded directly from gross commissions. Target: $400K–$500K monthly EBITDA before distributions, with 20–30% retained for growth, reserves and chargebacks (taxes modeled separately).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463040" y="53949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</a:rPr>
              <a:t>At 65% contribution margin: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~$615K/mo revenue → $400K contribution</a:t>
            </a:r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</a:rPr>
              <a:t>   ·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~$769K/mo revenue → $500K contribution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SCENARIO — NOT A FORECAST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12-month platform trajectory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97480" y="3670069"/>
            <a:ext cx="256032" cy="124691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500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 + variable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008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during build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20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0" y="3462251"/>
            <a:ext cx="256032" cy="332509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3500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firms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MRR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0440" y="3008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 contribution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20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75320" y="3046615"/>
            <a:ext cx="256032" cy="748145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3500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firms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 MRR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3008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contribution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15400" y="178308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0F1F3D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1920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064240" y="2423160"/>
            <a:ext cx="256032" cy="1371600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25" name="Text 23"/>
          <p:cNvSpPr/>
          <p:nvPr/>
        </p:nvSpPr>
        <p:spPr>
          <a:xfrm>
            <a:off x="9098280" y="23500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firms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9828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$825K MRR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98280" y="3008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$325K contribution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REVENUE AT SCALE — ILLUSTRATIVE MONTHLY MIX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800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external firms × $12,500 MRR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828032"/>
            <a:ext cx="5852160" cy="14630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4828032"/>
            <a:ext cx="5852160" cy="146304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/>
        </p:spPr>
      </p:sp>
      <p:sp>
        <p:nvSpPr>
          <p:cNvPr id="32" name="Text 30"/>
          <p:cNvSpPr/>
          <p:nvPr/>
        </p:nvSpPr>
        <p:spPr>
          <a:xfrm>
            <a:off x="10469880" y="47823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$375K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102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Amerity/GV pilot &amp; infra fees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5129784"/>
            <a:ext cx="5852160" cy="14630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5129784"/>
            <a:ext cx="1170432" cy="146304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/>
        </p:spPr>
      </p:sp>
      <p:sp>
        <p:nvSpPr>
          <p:cNvPr id="36" name="Text 34"/>
          <p:cNvSpPr/>
          <p:nvPr/>
        </p:nvSpPr>
        <p:spPr>
          <a:xfrm>
            <a:off x="10469880" y="508406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54041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seats &amp; agents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5431536"/>
            <a:ext cx="5852160" cy="14630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5431536"/>
            <a:ext cx="780288" cy="146304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/>
        </p:spPr>
      </p:sp>
      <p:sp>
        <p:nvSpPr>
          <p:cNvPr id="40" name="Text 38"/>
          <p:cNvSpPr/>
          <p:nvPr/>
        </p:nvSpPr>
        <p:spPr>
          <a:xfrm>
            <a:off x="10469880" y="538581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57058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Case-management fees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5733288"/>
            <a:ext cx="5852160" cy="14630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0" y="5733288"/>
            <a:ext cx="390144" cy="146304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/>
        </p:spPr>
      </p:sp>
      <p:sp>
        <p:nvSpPr>
          <p:cNvPr id="44" name="Text 42"/>
          <p:cNvSpPr/>
          <p:nvPr/>
        </p:nvSpPr>
        <p:spPr>
          <a:xfrm>
            <a:off x="10469880" y="56875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6007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fees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6035040"/>
            <a:ext cx="5852160" cy="14630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0" y="6035040"/>
            <a:ext cx="1170432" cy="146304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/>
        </p:spPr>
      </p:sp>
      <p:sp>
        <p:nvSpPr>
          <p:cNvPr id="48" name="Text 46"/>
          <p:cNvSpPr/>
          <p:nvPr/>
        </p:nvSpPr>
        <p:spPr>
          <a:xfrm>
            <a:off x="10469880" y="5989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8640" y="6309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SEO/AEO/GEO &amp; ad expansion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0" y="6336792"/>
            <a:ext cx="5852160" cy="14630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6350">
            <a:solidFill>
              <a:srgbClr val="E1E7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6336792"/>
            <a:ext cx="1170432" cy="146304"/>
          </a:xfrm>
          <a:prstGeom prst="roundRect">
            <a:avLst>
              <a:gd name="adj" fmla="val 50000"/>
            </a:avLst>
          </a:prstGeom>
          <a:solidFill>
            <a:srgbClr val="0F1F3D"/>
          </a:solidFill>
          <a:ln/>
        </p:spPr>
      </p:sp>
      <p:sp>
        <p:nvSpPr>
          <p:cNvPr id="52" name="Text 50"/>
          <p:cNvSpPr/>
          <p:nvPr/>
        </p:nvSpPr>
        <p:spPr>
          <a:xfrm>
            <a:off x="10469880" y="62910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" y="6684264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platform revenue ≈ $675K/mo  →  contribution ≈ $438,750 at 65% margin.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 to national expansion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60704" y="2432304"/>
            <a:ext cx="0" cy="219456"/>
          </a:xfrm>
          <a:prstGeom prst="line">
            <a:avLst/>
          </a:prstGeom>
          <a:noFill/>
          <a:ln w="25400">
            <a:solidFill>
              <a:srgbClr val="E1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066544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08760" y="1947672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91640" y="194767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743200" y="1947672"/>
            <a:ext cx="5669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&amp; Contracting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0" y="19476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60704" y="3145536"/>
            <a:ext cx="0" cy="219456"/>
          </a:xfrm>
          <a:prstGeom prst="line">
            <a:avLst/>
          </a:prstGeom>
          <a:noFill/>
          <a:ln w="25400">
            <a:solidFill>
              <a:srgbClr val="E1E7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633472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779776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508760" y="2660904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691640" y="2660904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743200" y="2660904"/>
            <a:ext cx="5669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686800" y="266090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2–6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60704" y="3858768"/>
            <a:ext cx="0" cy="219456"/>
          </a:xfrm>
          <a:prstGeom prst="line">
            <a:avLst/>
          </a:prstGeom>
          <a:noFill/>
          <a:ln w="25400">
            <a:solidFill>
              <a:srgbClr val="E1E7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3346704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493008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508760" y="3374136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691640" y="337413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2743200" y="3374136"/>
            <a:ext cx="5669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Alpha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686800" y="337413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7–10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060704" y="4572000"/>
            <a:ext cx="0" cy="219456"/>
          </a:xfrm>
          <a:prstGeom prst="line">
            <a:avLst/>
          </a:prstGeom>
          <a:noFill/>
          <a:ln w="25400">
            <a:solidFill>
              <a:srgbClr val="E1E7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77240" y="4059936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206240"/>
            <a:ext cx="274320" cy="274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508760" y="4087368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691640" y="408736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2743200" y="4087368"/>
            <a:ext cx="5669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+ Outbound Pilot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8686800" y="408736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1060704" y="5285232"/>
            <a:ext cx="0" cy="219456"/>
          </a:xfrm>
          <a:prstGeom prst="line">
            <a:avLst/>
          </a:prstGeom>
          <a:noFill/>
          <a:ln w="25400">
            <a:solidFill>
              <a:srgbClr val="E1E7F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77240" y="4773168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919472"/>
            <a:ext cx="274320" cy="27432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508760" y="4800600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691640" y="480060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2743200" y="4800600"/>
            <a:ext cx="5669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Network Beta (10→50 firms)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686800" y="480060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77240" y="5486400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632704"/>
            <a:ext cx="274320" cy="27432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508760" y="5513832"/>
            <a:ext cx="9966960" cy="512064"/>
          </a:xfrm>
          <a:prstGeom prst="roundRect">
            <a:avLst>
              <a:gd name="adj" fmla="val 1071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691640" y="551383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A0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2743200" y="5513832"/>
            <a:ext cx="5669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Expansion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8686800" y="551383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12–36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risks require hard controls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A152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20824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Unlicensed advice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862072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role boundaries, training, call QA, AI blocks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52544" y="1691640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5424" y="1874520"/>
            <a:ext cx="457200" cy="457200"/>
          </a:xfrm>
          <a:prstGeom prst="ellipse">
            <a:avLst/>
          </a:prstGeom>
          <a:solidFill>
            <a:srgbClr val="0A152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020824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84064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35424" y="246888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Improper commission sharing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35424" y="2862072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Counsel-approved entity &amp; compensation structure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56448" y="1691640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39328" y="1874520"/>
            <a:ext cx="457200" cy="457200"/>
          </a:xfrm>
          <a:prstGeom prst="ellipse">
            <a:avLst/>
          </a:prstGeom>
          <a:solidFill>
            <a:srgbClr val="0A152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020824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87968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339328" y="2468880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Misleading marketing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39328" y="2862072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library, approval workflow, archive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547872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31520" y="3730752"/>
            <a:ext cx="457200" cy="457200"/>
          </a:xfrm>
          <a:prstGeom prst="ellipse">
            <a:avLst/>
          </a:prstGeom>
          <a:solidFill>
            <a:srgbClr val="0A152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877056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3776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731520" y="4325112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DNC / TCPA breach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31520" y="4718304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ledger, suppression, local-time controls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52544" y="3547872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35424" y="3730752"/>
            <a:ext cx="457200" cy="457200"/>
          </a:xfrm>
          <a:prstGeom prst="ellipse">
            <a:avLst/>
          </a:prstGeom>
          <a:solidFill>
            <a:srgbClr val="0A1529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877056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84064" y="3776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535424" y="4325112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breach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35424" y="4718304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controls, WISP, incident response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56448" y="3547872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339328" y="3730752"/>
            <a:ext cx="457200" cy="457200"/>
          </a:xfrm>
          <a:prstGeom prst="ellipse">
            <a:avLst/>
          </a:prstGeom>
          <a:solidFill>
            <a:srgbClr val="0A1529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3877056"/>
            <a:ext cx="164592" cy="16459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87968" y="3776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8339328" y="4325112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Lead-marketplace perception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339328" y="4718304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One-provider matching, consumer disclosure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TELEWEALTH OS  ·  CONFIDENTIAL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15568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F1F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640080" cy="640080"/>
          </a:xfrm>
          <a:prstGeom prst="ellipse">
            <a:avLst/>
          </a:prstGeom>
          <a:solidFill>
            <a:srgbClr val="BFA04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92354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961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MODEL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national infrastructure for virtual wealth distribution and lifelong household financial relationships.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Omnikom: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technology, outbound, AI, demand generation, Egypt operations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0" y="32461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Rainmaker: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strategic client acquisition, Philippines talent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381304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Amerity Wealth Mgmt: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regulated advisory anchor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17920" y="381304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Amerity Financial: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insurance &amp; annuity anchor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43799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 Financial: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producer &amp; distribution partner (entity TBC)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17920" y="43799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Firms: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RIAs, agencies and institutions via credentialing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6080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Amerity and GV validate the model. The external-firm platform creates recurring revenue. The regulated U.S. layer protects the advice boundary.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Telewealth OS — Executive Blueprint</dc:title>
  <dc:subject>PptxGenJS Presentation</dc:subject>
  <dc:creator>Omnikom LLC × Rainmaker Wealth Innovation LLC</dc:creator>
  <cp:lastModifiedBy>Omnikom LLC × Rainmaker Wealth Innovation LLC</cp:lastModifiedBy>
  <cp:revision>1</cp:revision>
  <dcterms:created xsi:type="dcterms:W3CDTF">2026-07-29T19:45:12Z</dcterms:created>
  <dcterms:modified xsi:type="dcterms:W3CDTF">2026-07-29T19:45:12Z</dcterms:modified>
</cp:coreProperties>
</file>